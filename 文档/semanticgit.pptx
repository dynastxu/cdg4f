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13510" y="498158"/>
            <a:ext cx="9144000" cy="2387600"/>
          </a:xfrm>
        </p:spPr>
        <p:txBody>
          <a:bodyPr/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SemanticGit</a:t>
            </a:r>
            <a:br>
              <a:rPr lang="en-US" altLang="zh-CN"/>
            </a:b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语义级代码演化分析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p>
            <a:pPr algn="l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组别：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成员：卜金阳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张烨（组长）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沈恒伟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徐嘉靖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课题意义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737360" y="1704340"/>
            <a:ext cx="8716645" cy="12776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👨‍💼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737360" y="3364230"/>
            <a:ext cx="8716645" cy="12776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737995" y="5028565"/>
            <a:ext cx="8716645" cy="12776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902460" y="3485515"/>
            <a:ext cx="83877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对架构师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提前预警“高危模块”：某个类每次被改都带出一串 Bug，说明耦合太高，该拆了。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992630" y="1833245"/>
            <a:ext cx="85420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对管理者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不再只看代码行数，看清团队真实产出：还技术债 or 造新轮子，质量变好还是变坏。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942465" y="5162550"/>
            <a:ext cx="83077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对审计/合规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自动给提交打标签（修复/重构/功能），不用人工翻几千个 Commit 去追责或复盘。</a:t>
            </a:r>
            <a:endParaRPr lang="zh-CN" altLang="en-US"/>
          </a:p>
        </p:txBody>
      </p:sp>
      <p:pic>
        <p:nvPicPr>
          <p:cNvPr id="13" name="图片 12" descr="管理者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5610" y="1833245"/>
            <a:ext cx="365760" cy="365760"/>
          </a:xfrm>
          <a:prstGeom prst="rect">
            <a:avLst/>
          </a:prstGeom>
        </p:spPr>
      </p:pic>
      <p:pic>
        <p:nvPicPr>
          <p:cNvPr id="14" name="图片 13" descr="架构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610" y="3423285"/>
            <a:ext cx="452755" cy="452755"/>
          </a:xfrm>
          <a:prstGeom prst="rect">
            <a:avLst/>
          </a:prstGeom>
        </p:spPr>
      </p:pic>
      <p:pic>
        <p:nvPicPr>
          <p:cNvPr id="15" name="图片 14" descr="审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365" y="5115560"/>
            <a:ext cx="432435" cy="432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竞品分析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69670" y="5575300"/>
            <a:ext cx="9835515" cy="974090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zh-CN" altLang="en-US" sz="3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竞品要么是“死掉的学术玩具”，要么是“昂贵的成品软件”。我们要做懂中国开发者、开源可扩展、侧重实体生命周期全量追踪的分析底座。		</a:t>
            </a:r>
            <a:r>
              <a:rPr lang="zh-CN" altLang="en-US" sz="2000"/>
              <a:t>					</a:t>
            </a:r>
            <a:endParaRPr lang="zh-CN" altLang="en-US" sz="200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186815" y="1893570"/>
          <a:ext cx="981837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1410"/>
                <a:gridCol w="3652520"/>
                <a:gridCol w="3774440"/>
              </a:tblGrid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竞品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优势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痛点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ChangeDistiller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学术派鼻祖，细粒度变更识别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太老，不支持现代语言，无业务上下文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CodeScene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商业化最好，热点分析、认知复杂度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闭源昂贵，偏健康度体检，跨版本演化挖掘浅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Git原生统计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简单直接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纯文件粒度，分不清重构与业务修改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课题需求详细介绍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985520" y="1950085"/>
            <a:ext cx="4686300" cy="13868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时间与性质叠加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追踪类/方法的完整生命周期，每次变更自动叠加语义标签（重构、Bug修复、功能新   增、性能优化等），形成可追溯的演化档案。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478905" y="2026285"/>
            <a:ext cx="4873625" cy="13582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归属画像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按业务域标注代码归属，识别核心模块与非核心模块，量化变更影响权重，辅助优先级决策。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752850" y="4249420"/>
            <a:ext cx="4686300" cy="14446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历史耦合挖掘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基于共变分析自动识别强耦合模块，发现“修改A必改B”的隐性依赖，为模块拆分、重构和测试范围提供依据。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图片 8" descr="时钟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675" y="2030730"/>
            <a:ext cx="331470" cy="331470"/>
          </a:xfrm>
          <a:prstGeom prst="rect">
            <a:avLst/>
          </a:prstGeom>
        </p:spPr>
      </p:pic>
      <p:pic>
        <p:nvPicPr>
          <p:cNvPr id="10" name="图片 9" descr="画像分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2026285"/>
            <a:ext cx="401320" cy="401320"/>
          </a:xfrm>
          <a:prstGeom prst="rect">
            <a:avLst/>
          </a:prstGeom>
        </p:spPr>
      </p:pic>
      <p:pic>
        <p:nvPicPr>
          <p:cNvPr id="11" name="图片 10" descr="数据挖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335" y="4036695"/>
            <a:ext cx="336550" cy="336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初步技术选型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967105" y="1909445"/>
          <a:ext cx="9949180" cy="3952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9180"/>
              </a:tblGrid>
              <a:tr h="13366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展示层</a:t>
                      </a:r>
                      <a:endParaRPr lang="zh-CN" altLang="en-US" sz="2400"/>
                    </a:p>
                    <a:p>
                      <a:pPr algn="ctr">
                        <a:buNone/>
                      </a:pPr>
                      <a:endParaRPr lang="zh-CN" altLang="en-US" sz="2400"/>
                    </a:p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jetpack compose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:用更少代码更快构建现代、动态的展示层，同时保留跨端扩展空间。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/>
                </a:tc>
              </a:tr>
              <a:tr h="1308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存储层   </a:t>
                      </a:r>
                      <a:endParaRPr lang="zh-CN" altLang="en-US" sz="24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</a:t>
                      </a:r>
                      <a:endParaRPr lang="zh-CN" altLang="en-US" sz="24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SQLite：零运维、单文件共享、易迁移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/>
                </a:tc>
              </a:tr>
              <a:tr h="1308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解析引擎层   </a:t>
                      </a:r>
                      <a:endParaRPr lang="zh-CN" altLang="en-US" sz="24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               </a:t>
                      </a:r>
                      <a:endParaRPr lang="zh-CN" altLang="en-US" sz="24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JavaParser：选用 JavaParser 现成工具，把 Java 代码变成 AST（抽象语法树），比较 AST 的差异 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可行性评估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489075" y="1760220"/>
            <a:ext cx="9074785" cy="12261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技术可行性（高）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AST差异比对、调用链追踪成熟，主要是工程整合。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489075" y="3442970"/>
            <a:ext cx="9074785" cy="12261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数据可行性（中高）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Git历史完整即可跑，旁路分析，不侵入编译环境。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411605" y="5043805"/>
            <a:ext cx="9074785" cy="1539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73555" y="5352415"/>
            <a:ext cx="84836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难点与风险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语言适配：想支持全语言（Go/Python/Java）工程量巨大，初期建议锁定Java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性能压力：大仓（万级Commit）首次全量解析耗时较长，需做增量更新机制。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" name="图片 10" descr="yellow-fla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974590" y="5424805"/>
            <a:ext cx="229235" cy="213360"/>
          </a:xfrm>
          <a:prstGeom prst="rect">
            <a:avLst/>
          </a:prstGeom>
        </p:spPr>
      </p:pic>
      <p:pic>
        <p:nvPicPr>
          <p:cNvPr id="14" name="图片 13" descr="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740" y="2132965"/>
            <a:ext cx="182245" cy="182245"/>
          </a:xfrm>
          <a:prstGeom prst="rect">
            <a:avLst/>
          </a:prstGeom>
        </p:spPr>
      </p:pic>
      <p:pic>
        <p:nvPicPr>
          <p:cNvPr id="15" name="图片 14" descr="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495" y="3844925"/>
            <a:ext cx="182245" cy="182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50265" y="193675"/>
            <a:ext cx="10118090" cy="927735"/>
          </a:xfrm>
        </p:spPr>
        <p:txBody>
          <a:bodyPr/>
          <a:p>
            <a:pPr algn="l"/>
            <a:r>
              <a:rPr lang="zh-CN" altLang="en-US"/>
              <a:t>用例图</a:t>
            </a:r>
            <a:endParaRPr lang="zh-CN" altLang="en-US"/>
          </a:p>
        </p:txBody>
      </p:sp>
      <p:pic>
        <p:nvPicPr>
          <p:cNvPr id="8" name="图片 7" descr="微信图片_20260911164745_1110_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8080" y="876300"/>
            <a:ext cx="5832475" cy="53962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2199640"/>
            <a:ext cx="567880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参与者：技术负责人、开发者、架构设计师、运维工程师、文档工程师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核心依赖：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&lt;&lt;include&gt;&gt; 画像/追溯 → 依赖语义分析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&lt;&lt;extend&gt;&gt; 耦合/接口差异 → 语义分析的增值扩展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zh-CN" altLang="en-US"/>
              <a:t>功能点</a:t>
            </a:r>
            <a:endParaRPr lang="zh-CN" altLang="en-US"/>
          </a:p>
        </p:txBody>
      </p:sp>
      <p:sp>
        <p:nvSpPr>
          <p:cNvPr id="10" name="梯形 9"/>
          <p:cNvSpPr/>
          <p:nvPr/>
        </p:nvSpPr>
        <p:spPr>
          <a:xfrm>
            <a:off x="4547870" y="1826260"/>
            <a:ext cx="3212465" cy="1058545"/>
          </a:xfrm>
          <a:prstGeom prst="trapezoi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低优先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级（应用出口）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团队能力/代码归属画像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CI/CD 部署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1" name="梯形 10"/>
          <p:cNvSpPr/>
          <p:nvPr/>
        </p:nvSpPr>
        <p:spPr>
          <a:xfrm>
            <a:off x="4132580" y="2884805"/>
            <a:ext cx="4014470" cy="1591310"/>
          </a:xfrm>
          <a:prstGeom prst="trapezoi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中优先级（深度分析能力）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实体变更历史追溯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历史代码耦合度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公开接口变更差异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梯形 11"/>
          <p:cNvSpPr/>
          <p:nvPr/>
        </p:nvSpPr>
        <p:spPr>
          <a:xfrm>
            <a:off x="3709035" y="4476115"/>
            <a:ext cx="4868545" cy="1591310"/>
          </a:xfrm>
          <a:prstGeom prst="trapezoi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高优先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级（核心底座）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代码变更语义化分析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第二周工作进度安排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233930" y="1672590"/>
            <a:ext cx="799401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统一接口：制定模块间接口规范，输出接口文档。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模块编码：完成解析、存储、分析、展示各模块基础代码。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初步跑通：统一构建与运行环境，打通“提交→解析→分析→存储→展示”最小闭环，确保代码可编译、可运行。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0af44ef5-e309-472a-ab7d-c44037a808bd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1225</Words>
  <Application>WPS 演示</Application>
  <PresentationFormat>宽屏</PresentationFormat>
  <Paragraphs>125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SemanticGit 语义级代码演化分析</vt:lpstr>
      <vt:lpstr>课题意义</vt:lpstr>
      <vt:lpstr>竞品分析</vt:lpstr>
      <vt:lpstr>课题需求详细介绍</vt:lpstr>
      <vt:lpstr>初步技术选型</vt:lpstr>
      <vt:lpstr>可行性评估</vt:lpstr>
      <vt:lpstr>用例图</vt:lpstr>
      <vt:lpstr>6个功能点</vt:lpstr>
      <vt:lpstr>第二周工作进度安排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沈恒伟</dc:creator>
  <cp:lastModifiedBy>WPS_1627826202</cp:lastModifiedBy>
  <cp:revision>6</cp:revision>
  <dcterms:created xsi:type="dcterms:W3CDTF">2026-09-09T12:42:00Z</dcterms:created>
  <dcterms:modified xsi:type="dcterms:W3CDTF">2026-09-11T11:06:45Z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